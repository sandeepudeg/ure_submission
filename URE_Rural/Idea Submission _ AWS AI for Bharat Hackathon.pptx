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deepsky.ai/website/06ac7601-9369-446c-9e42-7b55bca86381_stored_entitie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Assemblers	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b="1" dirty="0"/>
              <a:t>AI for Rural Innovation &amp; Sustainable Systems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Sandeep Udeg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03881" y="510259"/>
            <a:ext cx="8991627" cy="305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r>
              <a:rPr lang="en-US" sz="1800" b="1" dirty="0"/>
              <a:t>Project Title: Gram-Setu (The Unified Rural Resilience Engine)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The Vision</a:t>
            </a:r>
          </a:p>
          <a:p>
            <a:r>
              <a:rPr lang="en-US" sz="1800" dirty="0"/>
              <a:t>Gram-Setu is a </a:t>
            </a:r>
            <a:r>
              <a:rPr lang="en-US" sz="1800" b="1" dirty="0"/>
              <a:t>Unified Rural Ecosystem (URE)</a:t>
            </a:r>
            <a:r>
              <a:rPr lang="en-US" sz="1800" dirty="0"/>
              <a:t> platform designed to bridge the digital divide for India’s heartland. Instead of isolated tools, we provide a </a:t>
            </a:r>
            <a:r>
              <a:rPr lang="en-US" sz="1800" b="1" dirty="0"/>
              <a:t>Multi-Agent "Operating System"</a:t>
            </a:r>
            <a:r>
              <a:rPr lang="en-US" sz="1800" dirty="0"/>
              <a:t> that manages the three most critical pillars of rural life: agricultural health, government welfare access, and sustainable resource management.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The Core Solution</a:t>
            </a:r>
          </a:p>
          <a:p>
            <a:r>
              <a:rPr lang="en-US" sz="1800" dirty="0"/>
              <a:t>Our solution employs a </a:t>
            </a:r>
            <a:r>
              <a:rPr lang="en-US" sz="1800" b="1" dirty="0"/>
              <a:t>Supervisor-Worker architecture</a:t>
            </a:r>
            <a:r>
              <a:rPr lang="en-US" sz="1800" dirty="0"/>
              <a:t> to act as a proactive digital companion for rural citizens:</a:t>
            </a:r>
          </a:p>
          <a:p>
            <a:pPr marL="285750" lvl="3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The Orchestrator:</a:t>
            </a:r>
            <a:r>
              <a:rPr lang="en-US" sz="1800" dirty="0"/>
              <a:t> A central "Supervisor" agent that manages intent and conversation state, ensuring that data flows seamlessly between domains.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Agri-Expert Worker:</a:t>
            </a:r>
            <a:r>
              <a:rPr lang="en-US" sz="1800" dirty="0"/>
              <a:t> Provides instant crop disease diagnosis using multimodal vision grounded in the </a:t>
            </a:r>
            <a:r>
              <a:rPr lang="en-US" sz="1800" b="1" dirty="0"/>
              <a:t>Plant Village dataset</a:t>
            </a:r>
            <a:r>
              <a:rPr lang="en-US" sz="1800" dirty="0"/>
              <a:t> and connects users to real-time Mandi prices.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Policy-Navigator Worker:</a:t>
            </a:r>
            <a:r>
              <a:rPr lang="en-US" sz="1800" dirty="0"/>
              <a:t> Simplifies complex government schemes (like PM-Kisan and PKVY) using </a:t>
            </a:r>
            <a:r>
              <a:rPr lang="en-US" sz="1800" b="1" dirty="0"/>
              <a:t>RAG (Retrieval-Augmented Generation)</a:t>
            </a:r>
            <a:r>
              <a:rPr lang="en-US" sz="1800" dirty="0"/>
              <a:t> to provide eligibility-checked, hallucination-free advice.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Eco-Resource Worker:</a:t>
            </a:r>
            <a:r>
              <a:rPr lang="en-US" sz="1800" dirty="0"/>
              <a:t> Processes soil and weather data to provide precise irrigation and energy schedules, significantly reducing resource waste.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Technical Architecture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Intelligence:</a:t>
            </a:r>
            <a:r>
              <a:rPr lang="en-US" sz="1800" dirty="0"/>
              <a:t> Powered by </a:t>
            </a:r>
            <a:r>
              <a:rPr lang="en-US" sz="1800" b="1" dirty="0"/>
              <a:t>Claude 3.5 Sonnet</a:t>
            </a:r>
            <a:r>
              <a:rPr lang="en-US" sz="1800" dirty="0"/>
              <a:t> via </a:t>
            </a:r>
            <a:r>
              <a:rPr lang="en-US" sz="1800" b="1" dirty="0"/>
              <a:t>Amazon Bedrock</a:t>
            </a:r>
            <a:r>
              <a:rPr lang="en-US" sz="1800" dirty="0"/>
              <a:t> for high-fidelity reasoning.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Orchestration:</a:t>
            </a:r>
            <a:r>
              <a:rPr lang="en-US" sz="1800" dirty="0"/>
              <a:t> Built using the </a:t>
            </a:r>
            <a:r>
              <a:rPr lang="en-US" sz="1800" b="1" dirty="0"/>
              <a:t>Strands Agents SDK</a:t>
            </a:r>
            <a:r>
              <a:rPr lang="en-US" sz="1800" dirty="0"/>
              <a:t> for modular, agentic workflows.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Data Strategy:</a:t>
            </a:r>
            <a:r>
              <a:rPr lang="en-US" sz="1800" dirty="0"/>
              <a:t> Uses </a:t>
            </a:r>
            <a:r>
              <a:rPr lang="en-US" sz="1800" b="1" dirty="0"/>
              <a:t>Amazon S3</a:t>
            </a:r>
            <a:r>
              <a:rPr lang="en-US" sz="1800" dirty="0"/>
              <a:t> for image and sensor log storage, with </a:t>
            </a:r>
            <a:r>
              <a:rPr lang="en-US" sz="1800" b="1" dirty="0"/>
              <a:t>Bedrock Knowledge Bases</a:t>
            </a:r>
            <a:r>
              <a:rPr lang="en-US" sz="1800" dirty="0"/>
              <a:t> for grounding policy advice in verified datasets.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Responsible AI:</a:t>
            </a:r>
            <a:r>
              <a:rPr lang="en-US" sz="1800" dirty="0"/>
              <a:t> Integrated with </a:t>
            </a:r>
            <a:r>
              <a:rPr lang="en-US" sz="1800" b="1" dirty="0"/>
              <a:t>Bedrock Guardrails</a:t>
            </a:r>
            <a:r>
              <a:rPr lang="en-US" sz="1800" dirty="0"/>
              <a:t> to ensure all advice is safe, culturally sensitive, and privacy-compliant.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Impact &amp; Scalability</a:t>
            </a:r>
          </a:p>
          <a:p>
            <a:r>
              <a:rPr lang="en-US" sz="1800" dirty="0"/>
              <a:t>Gram-Setu is built to be </a:t>
            </a:r>
            <a:r>
              <a:rPr lang="en-US" sz="1800" b="1" dirty="0"/>
              <a:t>voice-first and multilingual</a:t>
            </a:r>
            <a:r>
              <a:rPr lang="en-US" sz="1800" dirty="0"/>
              <a:t>, making it accessible to users regardless of their literacy level. By optimizing resource use and providing direct market/subsidy linkages, the platform aims to increase net farmer income by </a:t>
            </a:r>
            <a:r>
              <a:rPr lang="en-US" sz="1800" b="1" dirty="0"/>
              <a:t>18–22%</a:t>
            </a:r>
            <a:r>
              <a:rPr lang="en-US" sz="1800" dirty="0"/>
              <a:t> while reducing water consumption by up to </a:t>
            </a:r>
            <a:r>
              <a:rPr lang="en-US" sz="1800" b="1" dirty="0"/>
              <a:t>45%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>
              <a:lnSpc>
                <a:spcPct val="115000"/>
              </a:lnSpc>
              <a:spcBef>
                <a:spcPts val="12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 : </a:t>
            </a:r>
            <a:r>
              <a:rPr lang="en-GB" sz="1600" dirty="0">
                <a:solidFill>
                  <a:srgbClr val="202729"/>
                </a:solidFill>
                <a:highlight>
                  <a:srgbClr val="FFFF00"/>
                </a:highlight>
                <a:latin typeface="Manrope SemiBold"/>
                <a:ea typeface="Manrope SemiBold"/>
                <a:cs typeface="Manrope SemiBold"/>
                <a:sym typeface="Manrope SemiBold"/>
              </a:rPr>
              <a:t>Use reference : </a:t>
            </a:r>
            <a:r>
              <a:rPr lang="en-IN" dirty="0">
                <a:highlight>
                  <a:srgbClr val="FFFF00"/>
                </a:highlight>
                <a:hlinkClick r:id="rId4"/>
              </a:rPr>
              <a:t>https://deepsky.ai/website/06ac7601-9369-446c-9e42-7b55bca86381_stored_entities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>
                <a:highlight>
                  <a:srgbClr val="FFFF00"/>
                </a:highlight>
                <a:sym typeface="Wingdings" panose="05000000000000000000" pitchFamily="2" charset="2"/>
              </a:rPr>
              <a:t> Priyanka</a:t>
            </a:r>
            <a:endParaRPr sz="1600" dirty="0">
              <a:solidFill>
                <a:srgbClr val="202729"/>
              </a:solidFill>
              <a:highlight>
                <a:srgbClr val="FFFF00"/>
              </a:highlight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 : </a:t>
            </a:r>
            <a:r>
              <a:rPr lang="en-GB" sz="1600" dirty="0">
                <a:solidFill>
                  <a:srgbClr val="202729"/>
                </a:solidFill>
                <a:highlight>
                  <a:srgbClr val="FFFF00"/>
                </a:highlight>
                <a:latin typeface="Manrope SemiBold"/>
                <a:ea typeface="Manrope SemiBold"/>
                <a:cs typeface="Manrope SemiBold"/>
                <a:sym typeface="Manrope SemiBold"/>
              </a:rPr>
              <a:t>need to thing</a:t>
            </a:r>
            <a:endParaRPr sz="1600" dirty="0">
              <a:solidFill>
                <a:srgbClr val="202729"/>
              </a:solidFill>
              <a:highlight>
                <a:srgbClr val="FFFF00"/>
              </a:highlight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  </a:t>
            </a:r>
            <a:r>
              <a:rPr lang="en-GB" sz="1600" dirty="0">
                <a:solidFill>
                  <a:srgbClr val="202729"/>
                </a:solidFill>
                <a:highlight>
                  <a:srgbClr val="FFFF00"/>
                </a:highlight>
                <a:latin typeface="Manrope SemiBold"/>
                <a:ea typeface="Manrope SemiBold"/>
                <a:cs typeface="Manrope SemiBold"/>
                <a:sym typeface="Manrope SemiBold"/>
              </a:rPr>
              <a:t>need to think</a:t>
            </a:r>
            <a:endParaRPr sz="1600" dirty="0">
              <a:solidFill>
                <a:srgbClr val="202729"/>
              </a:solidFill>
              <a:highlight>
                <a:srgbClr val="FFFF00"/>
              </a:highlight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lang="en-GB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28FB0C-1B9B-3B6B-EDFB-5DF1E387D7CC}"/>
              </a:ext>
            </a:extLst>
          </p:cNvPr>
          <p:cNvSpPr txBox="1"/>
          <p:nvPr/>
        </p:nvSpPr>
        <p:spPr>
          <a:xfrm>
            <a:off x="2644140" y="2743200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Ganesh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FE3CC1-3A20-D158-4056-D6F2BFE0E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803580"/>
            <a:ext cx="4257840" cy="4257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4302E7-6F28-5AE3-AFC8-21006D997112}"/>
              </a:ext>
            </a:extLst>
          </p:cNvPr>
          <p:cNvSpPr txBox="1"/>
          <p:nvPr/>
        </p:nvSpPr>
        <p:spPr>
          <a:xfrm>
            <a:off x="2164080" y="3116580"/>
            <a:ext cx="6856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https://deepsky.ai/website/2f6e3279-0e17-449b-aaa1-ef44d58901c3_stored_entities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48686-9D82-51EC-0B50-7AB4F5D9437E}"/>
              </a:ext>
            </a:extLst>
          </p:cNvPr>
          <p:cNvSpPr txBox="1"/>
          <p:nvPr/>
        </p:nvSpPr>
        <p:spPr>
          <a:xfrm>
            <a:off x="5257800" y="2301240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Sandeep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1FF2C3-FB7C-090C-3BE3-B382F552CC25}"/>
              </a:ext>
            </a:extLst>
          </p:cNvPr>
          <p:cNvSpPr txBox="1"/>
          <p:nvPr/>
        </p:nvSpPr>
        <p:spPr>
          <a:xfrm rot="19148803">
            <a:off x="3421380" y="3246120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Need to think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0" y="436830"/>
            <a:ext cx="9144000" cy="4706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AutoShape 2" descr="Image of ">
            <a:extLst>
              <a:ext uri="{FF2B5EF4-FFF2-40B4-BE49-F238E27FC236}">
                <a16:creationId xmlns:a16="http://schemas.microsoft.com/office/drawing/2014/main" id="{8BFF7534-7EB4-F3BB-D451-EE440B7F64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Image of ">
            <a:extLst>
              <a:ext uri="{FF2B5EF4-FFF2-40B4-BE49-F238E27FC236}">
                <a16:creationId xmlns:a16="http://schemas.microsoft.com/office/drawing/2014/main" id="{A9B2900E-5E8E-3D26-4FE1-16D42193AA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Image of ">
            <a:extLst>
              <a:ext uri="{FF2B5EF4-FFF2-40B4-BE49-F238E27FC236}">
                <a16:creationId xmlns:a16="http://schemas.microsoft.com/office/drawing/2014/main" id="{BB646318-6C49-5CA8-1648-34EFABDDE9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 descr="13_architecture">
            <a:extLst>
              <a:ext uri="{FF2B5EF4-FFF2-40B4-BE49-F238E27FC236}">
                <a16:creationId xmlns:a16="http://schemas.microsoft.com/office/drawing/2014/main" id="{F66AC472-C7C8-87AA-0672-9827216F982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200" y="1078980"/>
            <a:ext cx="5975577" cy="37575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F59D2-8E00-8B8F-65C7-DF3070983186}"/>
              </a:ext>
            </a:extLst>
          </p:cNvPr>
          <p:cNvSpPr txBox="1"/>
          <p:nvPr/>
        </p:nvSpPr>
        <p:spPr>
          <a:xfrm rot="18911585">
            <a:off x="1612200" y="3276600"/>
            <a:ext cx="3775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Need to be in line with the problem statement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70BCD-8A63-2BC0-A1D3-591513274C34}"/>
              </a:ext>
            </a:extLst>
          </p:cNvPr>
          <p:cNvSpPr txBox="1"/>
          <p:nvPr/>
        </p:nvSpPr>
        <p:spPr>
          <a:xfrm rot="19436623">
            <a:off x="1409700" y="2819400"/>
            <a:ext cx="1776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Need to use draw.io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0DD7A-5C0D-BA95-FC51-11DC2694F3E4}"/>
              </a:ext>
            </a:extLst>
          </p:cNvPr>
          <p:cNvSpPr txBox="1"/>
          <p:nvPr/>
        </p:nvSpPr>
        <p:spPr>
          <a:xfrm rot="19464390">
            <a:off x="731017" y="1394461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Ganesh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379F2D-B6F3-8C2A-8242-9B49D2786DC1}"/>
              </a:ext>
            </a:extLst>
          </p:cNvPr>
          <p:cNvSpPr txBox="1"/>
          <p:nvPr/>
        </p:nvSpPr>
        <p:spPr>
          <a:xfrm rot="20244355">
            <a:off x="188690" y="2038821"/>
            <a:ext cx="7497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List of AWS services that are to be used (Better to have the images of the respective tools)</a:t>
            </a:r>
          </a:p>
        </p:txBody>
      </p:sp>
      <p:pic>
        <p:nvPicPr>
          <p:cNvPr id="3074" name="Picture 2" descr="Amazon AWS. Amazon Web Services is a subsidiary of… | by Sutharsan ...">
            <a:extLst>
              <a:ext uri="{FF2B5EF4-FFF2-40B4-BE49-F238E27FC236}">
                <a16:creationId xmlns:a16="http://schemas.microsoft.com/office/drawing/2014/main" id="{58C60184-FB40-83CA-71E4-2826031C2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062" y="1751850"/>
            <a:ext cx="3399367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5D0348-740D-C398-A857-7D3CFF04B682}"/>
              </a:ext>
            </a:extLst>
          </p:cNvPr>
          <p:cNvSpPr txBox="1"/>
          <p:nvPr/>
        </p:nvSpPr>
        <p:spPr>
          <a:xfrm>
            <a:off x="6827520" y="2295109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0000"/>
                </a:highlight>
              </a:rPr>
              <a:t>Example only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0D09D4-D6D7-66AF-36F0-0F4629953967}"/>
              </a:ext>
            </a:extLst>
          </p:cNvPr>
          <p:cNvSpPr txBox="1"/>
          <p:nvPr/>
        </p:nvSpPr>
        <p:spPr>
          <a:xfrm>
            <a:off x="2042160" y="2141220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Priyanka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1DB7D7-657A-CC0B-8444-44957E65BA9A}"/>
              </a:ext>
            </a:extLst>
          </p:cNvPr>
          <p:cNvSpPr txBox="1"/>
          <p:nvPr/>
        </p:nvSpPr>
        <p:spPr>
          <a:xfrm rot="19190609">
            <a:off x="2857500" y="2720340"/>
            <a:ext cx="342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Its optional not necessary to be provided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5B083-7322-6768-B55C-41A923152CD1}"/>
              </a:ext>
            </a:extLst>
          </p:cNvPr>
          <p:cNvSpPr txBox="1"/>
          <p:nvPr/>
        </p:nvSpPr>
        <p:spPr>
          <a:xfrm rot="19022077">
            <a:off x="822960" y="2571750"/>
            <a:ext cx="5295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https://deepsky.ai/share/168db2499b8d4b9187ade68c87463d79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1DD27-484C-69F6-8A3F-08214C32E7A0}"/>
              </a:ext>
            </a:extLst>
          </p:cNvPr>
          <p:cNvSpPr txBox="1"/>
          <p:nvPr/>
        </p:nvSpPr>
        <p:spPr>
          <a:xfrm>
            <a:off x="2278380" y="2571750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Sandeep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575</Words>
  <Application>Microsoft Office PowerPoint</Application>
  <PresentationFormat>On-screen Show (16:9)</PresentationFormat>
  <Paragraphs>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Wingdings</vt:lpstr>
      <vt:lpstr>Manrope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Sandeepudeg2025</cp:lastModifiedBy>
  <cp:revision>3</cp:revision>
  <dcterms:modified xsi:type="dcterms:W3CDTF">2026-01-19T17:16:48Z</dcterms:modified>
</cp:coreProperties>
</file>